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2" r:id="rId6"/>
    <p:sldId id="257" r:id="rId7"/>
    <p:sldId id="269" r:id="rId8"/>
    <p:sldId id="270" r:id="rId9"/>
    <p:sldId id="271" r:id="rId10"/>
    <p:sldId id="268" r:id="rId11"/>
    <p:sldId id="273" r:id="rId12"/>
    <p:sldId id="274" r:id="rId13"/>
    <p:sldId id="275" r:id="rId14"/>
    <p:sldId id="276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104" y="5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xmlns="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 cstate="print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 cstate="print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 cstate="print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 cstate="print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 cstate="print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b="1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b="1" dirty="0" smtClean="0"/>
              <a:t>AI-BASED STOCK MARKET PREDICTION USING MACHINE LEARNING </a:t>
            </a:r>
            <a:r>
              <a:rPr lang="en-US" b="1" dirty="0" smtClean="0"/>
              <a:t>TECHNIQUES</a:t>
            </a:r>
          </a:p>
          <a:p>
            <a:pPr algn="ctr"/>
            <a:endParaRPr lang="en-US" sz="1600" b="0" strike="noStrike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By</a:t>
            </a:r>
          </a:p>
          <a:p>
            <a:pPr algn="ctr"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Monika </a:t>
            </a: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Aggarwal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 smtClean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 smtClean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</a:t>
            </a: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1011" y="4219460"/>
          <a:ext cx="8020280" cy="672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070"/>
                <a:gridCol w="2005070"/>
                <a:gridCol w="2005070"/>
                <a:gridCol w="2005070"/>
              </a:tblGrid>
              <a:tr h="672029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Ravinder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 Singh</a:t>
                      </a:r>
                    </a:p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2210990719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Rishi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chemeClr val="tx1"/>
                          </a:solidFill>
                        </a:rPr>
                        <a:t>Chaudhary</a:t>
                      </a:r>
                      <a:endParaRPr lang="en-US" sz="14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2210990726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 err="1" smtClean="0">
                          <a:solidFill>
                            <a:schemeClr val="tx1"/>
                          </a:solidFill>
                        </a:rPr>
                        <a:t>Ranveer</a:t>
                      </a:r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</a:rPr>
                        <a:t> Singh</a:t>
                      </a:r>
                    </a:p>
                    <a:p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</a:rPr>
                        <a:t>2210990717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Rajiv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Pal</a:t>
                      </a:r>
                    </a:p>
                    <a:p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221090708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55476C-946A-E941-F812-AE71C077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1BE19F7F-5DC7-41EA-58E9-E9BCBA81F7F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87BA3AF5-CEAA-636A-1AED-EFCEDD6B8CD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A4F8E1B0-637C-0466-FAD8-A31285B329F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 sz="1600"/>
            </a:pPr>
            <a:r>
              <a:rPr lang="en-US" dirty="0" smtClean="0"/>
              <a:t>The stock market is highly dynamic and unpredictable due to economic conditions, market trends, and investor </a:t>
            </a:r>
            <a:r>
              <a:rPr lang="en-US" dirty="0" err="1" smtClean="0"/>
              <a:t>behaviour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 sz="1600"/>
            </a:pPr>
            <a:r>
              <a:rPr lang="en-US" dirty="0" smtClean="0"/>
              <a:t> </a:t>
            </a:r>
            <a:r>
              <a:rPr lang="en-US" dirty="0" smtClean="0"/>
              <a:t>Traditional stock analysis methods require expert knowledge and extensive manual effort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 sz="1600"/>
            </a:pPr>
            <a:r>
              <a:rPr lang="en-US" dirty="0" smtClean="0"/>
              <a:t> </a:t>
            </a:r>
            <a:r>
              <a:rPr lang="en-US" dirty="0" smtClean="0"/>
              <a:t>Artificial Intelligence and Machine Learning enable automated analysis of large financial datasets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 sz="1600"/>
            </a:pPr>
            <a:r>
              <a:rPr lang="en-US" dirty="0" smtClean="0"/>
              <a:t> </a:t>
            </a:r>
            <a:r>
              <a:rPr lang="en-US" dirty="0" smtClean="0"/>
              <a:t>The proposed system uses technical indicators and AI models to predict stock trends and identify strong investment opportunities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  <a:defRPr sz="1600"/>
            </a:pPr>
            <a:r>
              <a:rPr lang="en-US" dirty="0" smtClean="0"/>
              <a:t> </a:t>
            </a:r>
            <a:r>
              <a:rPr lang="en-US" dirty="0" smtClean="0"/>
              <a:t>The project also provides an interactive dashboard for visualization and stock analysis.</a:t>
            </a: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396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 smtClean="0"/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Traditional stock market analysis is time-consuming and difficult for analyzing multiple stocks simultaneously.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Investors </a:t>
            </a:r>
            <a:r>
              <a:rPr lang="en-US" dirty="0" smtClean="0"/>
              <a:t>often face challenges in identifying profitable stocks due to market volatility and uncertainty.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Manual </a:t>
            </a:r>
            <a:r>
              <a:rPr lang="en-US" dirty="0" smtClean="0"/>
              <a:t>analysis may lead to delayed decisions and inaccurate predictions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 </a:t>
            </a:r>
            <a:r>
              <a:rPr lang="en-US" dirty="0" smtClean="0"/>
              <a:t>There is a need for an intelligent automated system that can analyze stock market data efficiently.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The </a:t>
            </a:r>
            <a:r>
              <a:rPr lang="en-US" dirty="0" smtClean="0"/>
              <a:t>proposed AI-based system provides stock prediction, strength scoring, and visualization using Machine Learning techniques.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73508B-E1B5-83C5-7714-D9143F8F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26E8EA9E-7045-DAF8-07C3-56ECC50C8DD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 smtClean="0"/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2B33B98A-7093-6315-F760-9073C687917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EF09F181-8761-4BDD-58A8-F4C21915769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To develop an AI-based stock screening system.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To </a:t>
            </a:r>
            <a:r>
              <a:rPr lang="en-US" dirty="0" smtClean="0"/>
              <a:t>analyze historical stock market data using Machine Learning algorithms.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To </a:t>
            </a:r>
            <a:r>
              <a:rPr lang="en-US" dirty="0" smtClean="0"/>
              <a:t>calculate stock strength scores using technical indicators</a:t>
            </a:r>
            <a:r>
              <a:rPr lang="en-US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 </a:t>
            </a:r>
            <a:r>
              <a:rPr lang="en-US" dirty="0" smtClean="0"/>
              <a:t>To identify institutional trading activity through volume analysis.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To </a:t>
            </a:r>
            <a:r>
              <a:rPr lang="en-US" dirty="0" smtClean="0"/>
              <a:t>create an interactive dashboard for visualization and prediction analysis. </a:t>
            </a:r>
            <a:endParaRPr lang="en-US" dirty="0" smtClean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/>
            </a:pPr>
            <a:r>
              <a:rPr lang="en-US" dirty="0" smtClean="0"/>
              <a:t>To </a:t>
            </a:r>
            <a:r>
              <a:rPr lang="en-US" dirty="0" smtClean="0"/>
              <a:t>improve future prediction accuracy using advanced deep learning models such as LSTM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692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F2BEA1-9C8B-FBDF-05AC-4F4A34EA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EFC3F8EF-5E64-996A-8B22-1197C5ECAF5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 smtClean="0"/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E7EB5627-7AFA-DB51-59F5-FF9C642D369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62C6EDEA-45BA-F55F-A66F-8533C4CB64FB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00" b="1" dirty="0" smtClean="0"/>
              <a:t>Workflow of the Proposed </a:t>
            </a:r>
            <a:r>
              <a:rPr lang="en-US" sz="1600" b="1" dirty="0" smtClean="0"/>
              <a:t>System</a:t>
            </a:r>
          </a:p>
          <a:p>
            <a:pPr>
              <a:buFont typeface="Wingdings" pitchFamily="2" charset="2"/>
              <a:buChar char="Ø"/>
            </a:pPr>
            <a:endParaRPr lang="en-US" sz="1600" b="1" dirty="0" smtClean="0"/>
          </a:p>
          <a:p>
            <a:r>
              <a:rPr lang="en-US" sz="1600" dirty="0" smtClean="0"/>
              <a:t>Data Collection from Financial APIs </a:t>
            </a:r>
          </a:p>
          <a:p>
            <a:r>
              <a:rPr lang="en-US" sz="1600" dirty="0" smtClean="0"/>
              <a:t>Data Preprocessing and Cleaning </a:t>
            </a:r>
          </a:p>
          <a:p>
            <a:r>
              <a:rPr lang="en-US" sz="1600" dirty="0" smtClean="0"/>
              <a:t>Technical Indicator Calculation </a:t>
            </a:r>
          </a:p>
          <a:p>
            <a:r>
              <a:rPr lang="en-US" sz="1600" dirty="0" smtClean="0"/>
              <a:t>Feature Extraction </a:t>
            </a:r>
          </a:p>
          <a:p>
            <a:r>
              <a:rPr lang="en-US" sz="1600" dirty="0" smtClean="0"/>
              <a:t>Machine Learning Model Training </a:t>
            </a:r>
          </a:p>
          <a:p>
            <a:r>
              <a:rPr lang="en-US" sz="1600" dirty="0" smtClean="0"/>
              <a:t>Prediction and Strength Scoring </a:t>
            </a:r>
          </a:p>
          <a:p>
            <a:r>
              <a:rPr lang="en-US" sz="1600" dirty="0" smtClean="0"/>
              <a:t>Dashboard Visualization and </a:t>
            </a:r>
            <a:r>
              <a:rPr lang="en-US" sz="1600" dirty="0" smtClean="0"/>
              <a:t>Analysis</a:t>
            </a:r>
          </a:p>
          <a:p>
            <a:r>
              <a:rPr lang="en-US" sz="1600" dirty="0" smtClean="0"/>
              <a:t> </a:t>
            </a:r>
            <a:endParaRPr lang="en-US" sz="1600" dirty="0" smtClean="0"/>
          </a:p>
          <a:p>
            <a:pPr>
              <a:buFont typeface="Wingdings" pitchFamily="2" charset="2"/>
              <a:buChar char="Ø"/>
            </a:pPr>
            <a:r>
              <a:rPr lang="en-US" sz="1600" b="1" dirty="0" smtClean="0"/>
              <a:t>Technical Indicators </a:t>
            </a:r>
            <a:r>
              <a:rPr lang="en-US" sz="1600" b="1" dirty="0" smtClean="0"/>
              <a:t>Used</a:t>
            </a:r>
          </a:p>
          <a:p>
            <a:pPr>
              <a:buFont typeface="Wingdings" pitchFamily="2" charset="2"/>
              <a:buChar char="Ø"/>
            </a:pPr>
            <a:endParaRPr lang="en-US" sz="1600" b="1" dirty="0" smtClean="0"/>
          </a:p>
          <a:p>
            <a:r>
              <a:rPr lang="en-US" sz="1600" dirty="0" smtClean="0"/>
              <a:t>Relative Strength Index (RSI) </a:t>
            </a:r>
          </a:p>
          <a:p>
            <a:r>
              <a:rPr lang="en-US" sz="1600" dirty="0" smtClean="0"/>
              <a:t>Moving Average (MA50) </a:t>
            </a:r>
          </a:p>
          <a:p>
            <a:r>
              <a:rPr lang="en-US" sz="1600" dirty="0" smtClean="0"/>
              <a:t>Volume Surge Analysis </a:t>
            </a:r>
          </a:p>
          <a:p>
            <a:r>
              <a:rPr lang="en-US" sz="1600" dirty="0" smtClean="0"/>
              <a:t>Trend Analysis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6548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615A78-596A-2F9B-D233-9B71DF59C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xmlns="" id="{FFC71CFC-3F56-C16E-59E1-CF347C60CA9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 smtClean="0"/>
              <a:t>Tools 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xmlns="" id="{785B96BF-DB19-B788-66A0-645B03BFF7F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D1C306DB-D455-D00E-618F-75DD5145617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00" b="1" dirty="0" smtClean="0"/>
              <a:t>Programming Language</a:t>
            </a:r>
          </a:p>
          <a:p>
            <a:r>
              <a:rPr lang="en-US" sz="1600" dirty="0" smtClean="0"/>
              <a:t>Python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Ø"/>
            </a:pPr>
            <a:r>
              <a:rPr lang="en-US" sz="1600" b="1" dirty="0" smtClean="0"/>
              <a:t>Libraries and Frameworks</a:t>
            </a:r>
          </a:p>
          <a:p>
            <a:r>
              <a:rPr lang="en-US" sz="1600" dirty="0" smtClean="0"/>
              <a:t>Pandas </a:t>
            </a:r>
          </a:p>
          <a:p>
            <a:r>
              <a:rPr lang="en-US" sz="1600" dirty="0" err="1" smtClean="0"/>
              <a:t>NumPy</a:t>
            </a:r>
            <a:r>
              <a:rPr lang="en-US" sz="1600" dirty="0" smtClean="0"/>
              <a:t> </a:t>
            </a:r>
          </a:p>
          <a:p>
            <a:r>
              <a:rPr lang="en-US" sz="1600" dirty="0" err="1" smtClean="0"/>
              <a:t>Scikit</a:t>
            </a:r>
            <a:r>
              <a:rPr lang="en-US" sz="1600" dirty="0" smtClean="0"/>
              <a:t>-learn </a:t>
            </a:r>
          </a:p>
          <a:p>
            <a:r>
              <a:rPr lang="en-US" sz="1600" dirty="0" err="1" smtClean="0"/>
              <a:t>TensorFlow</a:t>
            </a:r>
            <a:r>
              <a:rPr lang="en-US" sz="1600" dirty="0" smtClean="0"/>
              <a:t> </a:t>
            </a:r>
          </a:p>
          <a:p>
            <a:r>
              <a:rPr lang="en-US" sz="1600" dirty="0" err="1" smtClean="0"/>
              <a:t>Matplotlib</a:t>
            </a:r>
            <a:r>
              <a:rPr lang="en-US" sz="1600" dirty="0" smtClean="0"/>
              <a:t> </a:t>
            </a:r>
          </a:p>
          <a:p>
            <a:r>
              <a:rPr lang="en-US" sz="1600" dirty="0" err="1" smtClean="0"/>
              <a:t>Streamlit</a:t>
            </a:r>
            <a:endParaRPr lang="en-US" sz="1600" dirty="0" smtClean="0"/>
          </a:p>
          <a:p>
            <a:r>
              <a:rPr lang="en-US" sz="1600" dirty="0" smtClean="0"/>
              <a:t> </a:t>
            </a:r>
            <a:endParaRPr lang="en-US" sz="1600" dirty="0" smtClean="0"/>
          </a:p>
          <a:p>
            <a:pPr>
              <a:buFont typeface="Wingdings" pitchFamily="2" charset="2"/>
              <a:buChar char="Ø"/>
            </a:pPr>
            <a:r>
              <a:rPr lang="en-US" sz="1600" b="1" dirty="0" smtClean="0"/>
              <a:t>Data Source</a:t>
            </a:r>
          </a:p>
          <a:p>
            <a:r>
              <a:rPr lang="en-US" sz="1600" dirty="0" smtClean="0"/>
              <a:t>Yahoo Finance API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Ø"/>
            </a:pPr>
            <a:r>
              <a:rPr lang="en-US" sz="1600" b="1" dirty="0" smtClean="0"/>
              <a:t>Development Environment</a:t>
            </a:r>
          </a:p>
          <a:p>
            <a:r>
              <a:rPr lang="en-US" sz="1600" dirty="0" smtClean="0"/>
              <a:t>VS Code </a:t>
            </a:r>
          </a:p>
          <a:p>
            <a:r>
              <a:rPr lang="en-US" sz="1600" dirty="0" err="1" smtClean="0"/>
              <a:t>Jupyter</a:t>
            </a:r>
            <a:r>
              <a:rPr lang="en-US" sz="1600" dirty="0" smtClean="0"/>
              <a:t> Notebook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4824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83894" y="1"/>
            <a:ext cx="5876921" cy="826264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 smtClean="0"/>
              <a:t>Regression Modeling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xmlns="" id="{D1C306DB-D455-D00E-618F-75DD5145617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600" dirty="0" smtClean="0"/>
              <a:t>Regression Modeling is used to analyze historical stock market data and forecast future stock </a:t>
            </a:r>
            <a:r>
              <a:rPr lang="en-US" sz="1600" dirty="0" err="1" smtClean="0"/>
              <a:t>behaviour</a:t>
            </a:r>
            <a:r>
              <a:rPr lang="en-US" sz="1600" dirty="0" smtClean="0"/>
              <a:t>.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§"/>
            </a:pPr>
            <a:r>
              <a:rPr lang="en-US" sz="1600" dirty="0" smtClean="0"/>
              <a:t>The model identifies relationships between stock prices, trading volume, and technical indicators.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§"/>
            </a:pPr>
            <a:r>
              <a:rPr lang="en-US" sz="1600" dirty="0" smtClean="0"/>
              <a:t>Input features include RSI, MA50, volume analysis, and trend parameters.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§"/>
            </a:pPr>
            <a:r>
              <a:rPr lang="en-US" sz="1600" dirty="0" smtClean="0"/>
              <a:t>Historical data is divided into training and testing datasets for prediction analysis.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§"/>
            </a:pPr>
            <a:r>
              <a:rPr lang="en-US" sz="1600" dirty="0" smtClean="0"/>
              <a:t>The model generates prediction probabilities and stock strength scores. </a:t>
            </a:r>
            <a:endParaRPr lang="en-US" sz="1600" dirty="0" smtClean="0"/>
          </a:p>
          <a:p>
            <a:endParaRPr lang="en-US" sz="1600" dirty="0" smtClean="0"/>
          </a:p>
          <a:p>
            <a:pPr>
              <a:buFont typeface="Wingdings" pitchFamily="2" charset="2"/>
              <a:buChar char="§"/>
            </a:pPr>
            <a:r>
              <a:rPr lang="en-US" sz="1600" b="1" dirty="0" smtClean="0"/>
              <a:t>RSI Formula</a:t>
            </a:r>
          </a:p>
          <a:p>
            <a:r>
              <a:rPr lang="en-US" sz="1600" dirty="0" smtClean="0"/>
              <a:t>RSI=100−1001+RSRSI = 100 - \</a:t>
            </a:r>
            <a:r>
              <a:rPr lang="en-US" sz="1600" dirty="0" err="1" smtClean="0"/>
              <a:t>frac</a:t>
            </a:r>
            <a:r>
              <a:rPr lang="en-US" sz="1600" dirty="0" smtClean="0"/>
              <a:t>{100}{1 + RS}RSI=100−1+RS100​</a:t>
            </a:r>
          </a:p>
          <a:p>
            <a:pPr marL="285750" indent="-28575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3447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9" y="0"/>
            <a:ext cx="4829175" cy="914040"/>
          </a:xfrm>
        </p:spPr>
        <p:txBody>
          <a:bodyPr/>
          <a:lstStyle/>
          <a:p>
            <a:pPr algn="ctr"/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>
          <a:xfrm>
            <a:off x="457200" y="1604519"/>
            <a:ext cx="8229240" cy="4539105"/>
          </a:xfrm>
        </p:spPr>
        <p:txBody>
          <a:bodyPr>
            <a:normAutofit/>
          </a:bodyPr>
          <a:lstStyle/>
          <a:p>
            <a:r>
              <a:rPr lang="en-US" sz="1600" dirty="0" smtClean="0"/>
              <a:t>Automated stock market </a:t>
            </a:r>
            <a:r>
              <a:rPr lang="en-US" sz="1600" dirty="0" smtClean="0"/>
              <a:t>analysis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Fast and accurate prediction </a:t>
            </a:r>
            <a:r>
              <a:rPr lang="en-US" sz="1600" dirty="0" smtClean="0"/>
              <a:t>system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Strength-based stock </a:t>
            </a:r>
            <a:r>
              <a:rPr lang="en-US" sz="1600" dirty="0" smtClean="0"/>
              <a:t>ranking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Real-time visualization and dashboard </a:t>
            </a:r>
            <a:r>
              <a:rPr lang="en-US" sz="1600" dirty="0" smtClean="0"/>
              <a:t>analysis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Reduced manual effort and analysis time </a:t>
            </a:r>
            <a:endParaRPr lang="en-US" sz="1600" dirty="0" smtClean="0"/>
          </a:p>
          <a:p>
            <a:r>
              <a:rPr lang="en-US" sz="1600" dirty="0" smtClean="0"/>
              <a:t>Better </a:t>
            </a:r>
            <a:r>
              <a:rPr lang="en-US" sz="1600" dirty="0" smtClean="0"/>
              <a:t>investment decision support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074" y="0"/>
            <a:ext cx="4885965" cy="914040"/>
          </a:xfrm>
        </p:spPr>
        <p:txBody>
          <a:bodyPr/>
          <a:lstStyle/>
          <a:p>
            <a:pPr algn="ctr"/>
            <a:r>
              <a:rPr lang="en-US" dirty="0" smtClean="0"/>
              <a:t>Future Scope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Integration of Long Short-Term Memory (LSTM) models </a:t>
            </a:r>
            <a:endParaRPr lang="en-US" sz="1600" dirty="0" smtClean="0"/>
          </a:p>
          <a:p>
            <a:r>
              <a:rPr lang="en-US" sz="1600" dirty="0" smtClean="0"/>
              <a:t>Transformer-based </a:t>
            </a:r>
            <a:r>
              <a:rPr lang="en-US" sz="1600" dirty="0" smtClean="0"/>
              <a:t>deep learning architectures </a:t>
            </a:r>
            <a:endParaRPr lang="en-US" sz="1600" dirty="0" smtClean="0"/>
          </a:p>
          <a:p>
            <a:r>
              <a:rPr lang="en-US" sz="1600" dirty="0" smtClean="0"/>
              <a:t>Real-time </a:t>
            </a:r>
            <a:r>
              <a:rPr lang="en-US" sz="1600" dirty="0" smtClean="0"/>
              <a:t>stock market API integration </a:t>
            </a:r>
            <a:endParaRPr lang="en-US" sz="1600" dirty="0" smtClean="0"/>
          </a:p>
          <a:p>
            <a:r>
              <a:rPr lang="en-US" sz="1600" dirty="0" smtClean="0"/>
              <a:t>Financial </a:t>
            </a:r>
            <a:r>
              <a:rPr lang="en-US" sz="1600" dirty="0" smtClean="0"/>
              <a:t>news and sentiment </a:t>
            </a:r>
            <a:r>
              <a:rPr lang="en-US" sz="1600" dirty="0" smtClean="0"/>
              <a:t>analysis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Mobile application </a:t>
            </a:r>
            <a:r>
              <a:rPr lang="en-US" sz="1600" dirty="0" smtClean="0"/>
              <a:t>development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Portfolio optimization and automated trading systems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472305"/>
          </a:xfrm>
        </p:spPr>
        <p:txBody>
          <a:bodyPr/>
          <a:lstStyle/>
          <a:p>
            <a:r>
              <a:rPr lang="en-US" sz="1600" dirty="0" smtClean="0"/>
              <a:t>The project demonstrates the successful application of Artificial Intelligence and Machine Learning in stock market prediction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The system combines technical indicators, institutional analysis, and Machine Learning models for intelligent stock screening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 </a:t>
            </a:r>
            <a:r>
              <a:rPr lang="en-US" sz="1600" dirty="0" smtClean="0"/>
              <a:t>The dashboard provides interactive visualization and simplifies complex prediction outputs. </a:t>
            </a:r>
            <a:endParaRPr lang="en-US" sz="1600" dirty="0" smtClean="0"/>
          </a:p>
          <a:p>
            <a:r>
              <a:rPr lang="en-US" sz="1600" dirty="0" smtClean="0"/>
              <a:t>Future </a:t>
            </a:r>
            <a:r>
              <a:rPr lang="en-US" sz="1600" dirty="0" smtClean="0"/>
              <a:t>deep learning integration can further improve prediction accuracy and system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e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200" b="1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34799</TotalTime>
  <Words>602</Words>
  <Application>Microsoft Office PowerPoint</Application>
  <PresentationFormat>On-screen Show (4:3)</PresentationFormat>
  <Paragraphs>119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Advantages</vt:lpstr>
      <vt:lpstr>Future Scope</vt:lpstr>
      <vt:lpstr>Conclusion</vt:lpstr>
      <vt:lpstr>Slide 11</vt:lpstr>
    </vt:vector>
  </TitlesOfParts>
  <Company>CCC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DELL</cp:lastModifiedBy>
  <cp:revision>2305</cp:revision>
  <dcterms:created xsi:type="dcterms:W3CDTF">2010-04-09T07:36:15Z</dcterms:created>
  <dcterms:modified xsi:type="dcterms:W3CDTF">2026-05-14T19:01:53Z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